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7"/>
  </p:notesMasterIdLst>
  <p:sldIdLst>
    <p:sldId id="256" r:id="rId5"/>
    <p:sldId id="257" r:id="rId6"/>
    <p:sldId id="258" r:id="rId7"/>
    <p:sldId id="266" r:id="rId8"/>
    <p:sldId id="270" r:id="rId9"/>
    <p:sldId id="269" r:id="rId10"/>
    <p:sldId id="268" r:id="rId11"/>
    <p:sldId id="271" r:id="rId12"/>
    <p:sldId id="262" r:id="rId13"/>
    <p:sldId id="264" r:id="rId14"/>
    <p:sldId id="263" r:id="rId15"/>
    <p:sldId id="25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475569"/>
    <a:srgbClr val="2563EB"/>
    <a:srgbClr val="EFF6FF"/>
    <a:srgbClr val="FAFAF5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78"/>
    <p:restoredTop sz="94703"/>
  </p:normalViewPr>
  <p:slideViewPr>
    <p:cSldViewPr snapToGrid="0">
      <p:cViewPr>
        <p:scale>
          <a:sx n="99" d="100"/>
          <a:sy n="99" d="100"/>
        </p:scale>
        <p:origin x="131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09B98-5E58-AC45-91B3-11DBC1BAF3B1}" type="datetimeFigureOut">
              <a:rPr lang="hu-HU" smtClean="0"/>
              <a:t>2025. 11. 30.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DB7B50-8810-2547-AC5B-8B439EFC24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7984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AFA3-8D7B-4A47-A82F-59185C78EB8F}" type="datetime1">
              <a:rPr lang="hu-HU" smtClean="0"/>
              <a:t>2025. 11. 30.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929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561F2-D76F-D543-9D6E-74E20AAF1F26}" type="datetime1">
              <a:rPr lang="hu-HU" smtClean="0"/>
              <a:t>2025. 11. 30.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09310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25F5-640A-B24B-90DE-ADF6A2A4E1D6}" type="datetime1">
              <a:rPr lang="hu-HU" smtClean="0"/>
              <a:t>2025. 11. 30.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344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8B74-33E4-2E4C-A954-CADE6A18CD80}" type="datetime1">
              <a:rPr lang="hu-HU" smtClean="0"/>
              <a:t>2025. 11. 30.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790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35D1-E2A4-D746-A49D-B12CAD2A337E}" type="datetime1">
              <a:rPr lang="hu-HU" smtClean="0"/>
              <a:t>2025. 11. 30.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642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ED47C-C8F8-904F-8ECF-98A0929F9D0A}" type="datetime1">
              <a:rPr lang="hu-HU" smtClean="0"/>
              <a:t>2025. 11. 30.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3118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63190-B994-5F49-8F5D-F6DE53AA11F5}" type="datetime1">
              <a:rPr lang="hu-HU" smtClean="0"/>
              <a:t>2025. 11. 30.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021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480C-9EF1-6541-A07C-0882CEC36123}" type="datetime1">
              <a:rPr lang="hu-HU" smtClean="0"/>
              <a:t>2025. 11. 30.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7862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32E0-07D3-0C41-9EA8-A876D5D70135}" type="datetime1">
              <a:rPr lang="hu-HU" smtClean="0"/>
              <a:t>2025. 11. 30.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289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5EBDF-3B7B-EF43-92C9-1C4A24DCB079}" type="datetime1">
              <a:rPr lang="hu-HU" smtClean="0"/>
              <a:t>2025. 11. 30.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848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C3A99-E398-FE4F-BF4D-2EC3A60A0687}" type="datetime1">
              <a:rPr lang="hu-HU" smtClean="0"/>
              <a:t>2025. 11. 30.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Temp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044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96783-FC0D-5347-BDD8-B1673BD9C42D}" type="datetime1">
              <a:rPr lang="hu-HU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2025. 11. 30.</a:t>
            </a:fld>
            <a:endParaRPr lang="hu-HU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hu-HU">
                <a:latin typeface="Source Sans Pro" panose="020B0503030403020204" pitchFamily="34" charset="0"/>
                <a:ea typeface="Source Sans Pro" panose="020B0503030403020204" pitchFamily="34" charset="0"/>
              </a:rPr>
              <a:t>Temp</a:t>
            </a:r>
            <a:endParaRPr lang="hu-HU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F328C-1B21-3F43-B52B-B2296346BCC7}" type="slidenum">
              <a:rPr lang="hu-HU" smtClean="0"/>
              <a:pPr/>
              <a:t>‹#›</a:t>
            </a:fld>
            <a:endParaRPr lang="hu-HU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60A55191-3AD9-F0D1-E5B1-23217FC616D1}"/>
              </a:ext>
            </a:extLst>
          </p:cNvPr>
          <p:cNvSpPr/>
          <p:nvPr userDrawn="1"/>
        </p:nvSpPr>
        <p:spPr>
          <a:xfrm>
            <a:off x="0" y="6260592"/>
            <a:ext cx="12192000" cy="5974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7889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9A5A56-E470-5149-3B22-1CA353ACD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 anchor="ctr">
            <a:normAutofit/>
          </a:bodyPr>
          <a:lstStyle/>
          <a:p>
            <a:r>
              <a:rPr lang="hu-HU" dirty="0"/>
              <a:t>Titanic – </a:t>
            </a:r>
            <a:r>
              <a:rPr lang="hu-HU" dirty="0" err="1"/>
              <a:t>Machine</a:t>
            </a:r>
            <a:r>
              <a:rPr lang="hu-HU" dirty="0"/>
              <a:t> </a:t>
            </a:r>
            <a:r>
              <a:rPr lang="hu-HU" dirty="0" err="1"/>
              <a:t>Learning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Disaster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BB9DDC4-3F17-A7FE-53F7-97163C011B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hu-HU" i="1" dirty="0"/>
              <a:t>Bora Miklós Bence, Marczis Bálint</a:t>
            </a:r>
            <a:br>
              <a:rPr lang="hu-HU" i="1" dirty="0"/>
            </a:br>
            <a:r>
              <a:rPr lang="hu-HU" i="1" dirty="0"/>
              <a:t>Eötvös Loránd University, Budapest</a:t>
            </a:r>
          </a:p>
        </p:txBody>
      </p:sp>
    </p:spTree>
    <p:extLst>
      <p:ext uri="{BB962C8B-B14F-4D97-AF65-F5344CB8AC3E}">
        <p14:creationId xmlns:p14="http://schemas.microsoft.com/office/powerpoint/2010/main" val="3606131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41B395-B9D9-BDDA-964A-C7E0D11D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Introduction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D81B7B6-7100-6536-6FA4-85A34B2CB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000" b="1" dirty="0"/>
              <a:t>Titanic </a:t>
            </a:r>
            <a:r>
              <a:rPr lang="hu-HU" sz="2000" b="1" dirty="0" err="1"/>
              <a:t>dataset</a:t>
            </a:r>
            <a:r>
              <a:rPr lang="hu-HU" sz="2000" b="1" dirty="0"/>
              <a:t>: </a:t>
            </a:r>
            <a:r>
              <a:rPr lang="hu-HU" sz="2000" dirty="0" err="1"/>
              <a:t>classic</a:t>
            </a:r>
            <a:r>
              <a:rPr lang="hu-HU" sz="2000" dirty="0"/>
              <a:t> benchmark </a:t>
            </a:r>
            <a:r>
              <a:rPr lang="hu-HU" sz="2000" dirty="0" err="1"/>
              <a:t>for</a:t>
            </a:r>
            <a:r>
              <a:rPr lang="hu-HU" sz="2000" dirty="0"/>
              <a:t> </a:t>
            </a:r>
            <a:r>
              <a:rPr lang="hu-HU" sz="2000" dirty="0" err="1"/>
              <a:t>binary</a:t>
            </a:r>
            <a:r>
              <a:rPr lang="hu-HU" sz="2000" dirty="0"/>
              <a:t> </a:t>
            </a:r>
            <a:r>
              <a:rPr lang="hu-HU" sz="2000" dirty="0" err="1"/>
              <a:t>classification</a:t>
            </a:r>
            <a:endParaRPr lang="hu-HU" sz="2000" dirty="0"/>
          </a:p>
          <a:p>
            <a:r>
              <a:rPr lang="hu-HU" sz="2000" dirty="0" err="1"/>
              <a:t>Despite</a:t>
            </a:r>
            <a:r>
              <a:rPr lang="hu-HU" sz="2000" dirty="0"/>
              <a:t> </a:t>
            </a:r>
            <a:r>
              <a:rPr lang="hu-HU" sz="2000" dirty="0" err="1"/>
              <a:t>its</a:t>
            </a:r>
            <a:r>
              <a:rPr lang="hu-HU" sz="2000" dirty="0"/>
              <a:t> </a:t>
            </a:r>
            <a:r>
              <a:rPr lang="hu-HU" sz="2000" dirty="0" err="1"/>
              <a:t>small</a:t>
            </a:r>
            <a:r>
              <a:rPr lang="hu-HU" sz="2000" dirty="0"/>
              <a:t> </a:t>
            </a:r>
            <a:r>
              <a:rPr lang="hu-HU" sz="2000" dirty="0" err="1"/>
              <a:t>size</a:t>
            </a:r>
            <a:r>
              <a:rPr lang="hu-HU" sz="2000" dirty="0"/>
              <a:t>, </a:t>
            </a:r>
            <a:r>
              <a:rPr lang="hu-HU" sz="2000" dirty="0" err="1"/>
              <a:t>it</a:t>
            </a:r>
            <a:r>
              <a:rPr lang="hu-HU" sz="2000" dirty="0"/>
              <a:t> </a:t>
            </a:r>
            <a:r>
              <a:rPr lang="hu-HU" sz="2000" dirty="0" err="1"/>
              <a:t>contains</a:t>
            </a:r>
            <a:r>
              <a:rPr lang="hu-HU" sz="2000" dirty="0"/>
              <a:t> </a:t>
            </a:r>
            <a:r>
              <a:rPr lang="hu-HU" sz="2000" dirty="0" err="1"/>
              <a:t>challenges</a:t>
            </a:r>
            <a:r>
              <a:rPr lang="hu-HU" sz="2000" dirty="0"/>
              <a:t> </a:t>
            </a:r>
            <a:r>
              <a:rPr lang="hu-HU" sz="2000" dirty="0" err="1"/>
              <a:t>typical</a:t>
            </a:r>
            <a:r>
              <a:rPr lang="hu-HU" sz="2000" dirty="0"/>
              <a:t> in </a:t>
            </a:r>
            <a:r>
              <a:rPr lang="hu-HU" sz="2000" dirty="0" err="1"/>
              <a:t>tabular</a:t>
            </a:r>
            <a:r>
              <a:rPr lang="hu-HU" sz="2000" dirty="0"/>
              <a:t> ML:</a:t>
            </a:r>
          </a:p>
          <a:p>
            <a:pPr lvl="1"/>
            <a:r>
              <a:rPr lang="hu-HU" sz="1600" b="1" dirty="0" err="1"/>
              <a:t>heterogeneous</a:t>
            </a:r>
            <a:r>
              <a:rPr lang="hu-HU" sz="1600" b="1" dirty="0"/>
              <a:t> </a:t>
            </a:r>
            <a:r>
              <a:rPr lang="hu-HU" sz="1600" b="1" dirty="0" err="1"/>
              <a:t>feature</a:t>
            </a:r>
            <a:r>
              <a:rPr lang="hu-HU" sz="1600" b="1" dirty="0"/>
              <a:t> </a:t>
            </a:r>
            <a:r>
              <a:rPr lang="hu-HU" sz="1600" b="1" dirty="0" err="1"/>
              <a:t>types</a:t>
            </a:r>
            <a:endParaRPr lang="hu-HU" sz="1600" b="1" dirty="0"/>
          </a:p>
          <a:p>
            <a:pPr lvl="1"/>
            <a:r>
              <a:rPr lang="hu-HU" sz="1600" b="1" dirty="0" err="1"/>
              <a:t>missing</a:t>
            </a:r>
            <a:r>
              <a:rPr lang="hu-HU" sz="1600" b="1" dirty="0"/>
              <a:t> </a:t>
            </a:r>
            <a:r>
              <a:rPr lang="hu-HU" sz="1600" b="1" dirty="0" err="1"/>
              <a:t>values</a:t>
            </a:r>
            <a:endParaRPr lang="hu-HU" sz="1600" b="1" dirty="0"/>
          </a:p>
          <a:p>
            <a:pPr lvl="1"/>
            <a:r>
              <a:rPr lang="hu-HU" sz="1600" b="1" dirty="0"/>
              <a:t>non-</a:t>
            </a:r>
            <a:r>
              <a:rPr lang="hu-HU" sz="1600" b="1" dirty="0" err="1"/>
              <a:t>linear</a:t>
            </a:r>
            <a:r>
              <a:rPr lang="hu-HU" sz="1600" b="1" dirty="0"/>
              <a:t> </a:t>
            </a:r>
            <a:r>
              <a:rPr lang="hu-HU" sz="1600" b="1" dirty="0" err="1"/>
              <a:t>relationships</a:t>
            </a:r>
            <a:endParaRPr lang="hu-HU" sz="1600" b="1" dirty="0"/>
          </a:p>
          <a:p>
            <a:pPr lvl="1"/>
            <a:r>
              <a:rPr lang="hu-HU" sz="1600" b="1" dirty="0" err="1"/>
              <a:t>demographic</a:t>
            </a:r>
            <a:r>
              <a:rPr lang="hu-HU" sz="1600" b="1" dirty="0"/>
              <a:t> &amp; </a:t>
            </a:r>
            <a:r>
              <a:rPr lang="hu-HU" sz="1600" b="1" dirty="0" err="1"/>
              <a:t>socioeconomic</a:t>
            </a:r>
            <a:r>
              <a:rPr lang="hu-HU" sz="1600" b="1" dirty="0"/>
              <a:t> </a:t>
            </a:r>
            <a:r>
              <a:rPr lang="hu-HU" sz="1600" b="1" dirty="0" err="1"/>
              <a:t>attributes</a:t>
            </a:r>
            <a:endParaRPr lang="hu-HU" sz="1600" b="1" dirty="0"/>
          </a:p>
          <a:p>
            <a:r>
              <a:rPr lang="hu-HU" sz="2000" dirty="0" err="1"/>
              <a:t>Requires</a:t>
            </a:r>
            <a:r>
              <a:rPr lang="hu-HU" sz="2000" dirty="0"/>
              <a:t> </a:t>
            </a:r>
            <a:r>
              <a:rPr lang="hu-HU" sz="2000" dirty="0" err="1"/>
              <a:t>careful</a:t>
            </a:r>
            <a:r>
              <a:rPr lang="hu-HU" sz="2000" dirty="0"/>
              <a:t> </a:t>
            </a:r>
            <a:r>
              <a:rPr lang="hu-HU" sz="2000" dirty="0" err="1"/>
              <a:t>preprocessing</a:t>
            </a:r>
            <a:r>
              <a:rPr lang="hu-HU" sz="2000" dirty="0"/>
              <a:t> and </a:t>
            </a:r>
            <a:r>
              <a:rPr lang="hu-HU" sz="2000" dirty="0" err="1"/>
              <a:t>domain-aware</a:t>
            </a:r>
            <a:r>
              <a:rPr lang="hu-HU" sz="2000" dirty="0"/>
              <a:t> </a:t>
            </a:r>
            <a:r>
              <a:rPr lang="hu-HU" sz="2000" dirty="0" err="1"/>
              <a:t>feature</a:t>
            </a:r>
            <a:r>
              <a:rPr lang="hu-HU" sz="2000" dirty="0"/>
              <a:t> </a:t>
            </a:r>
            <a:r>
              <a:rPr lang="hu-HU" sz="2000" dirty="0" err="1"/>
              <a:t>engineering</a:t>
            </a:r>
            <a:endParaRPr lang="hu-HU" sz="2000" dirty="0"/>
          </a:p>
          <a:p>
            <a:r>
              <a:rPr lang="hu-HU" sz="2000" b="1" dirty="0" err="1"/>
              <a:t>Goal</a:t>
            </a:r>
            <a:r>
              <a:rPr lang="hu-HU" sz="2000" b="1" dirty="0"/>
              <a:t>: </a:t>
            </a:r>
            <a:r>
              <a:rPr lang="hu-HU" sz="2000" dirty="0" err="1"/>
              <a:t>build</a:t>
            </a:r>
            <a:r>
              <a:rPr lang="hu-HU" sz="2000" dirty="0"/>
              <a:t> a </a:t>
            </a:r>
            <a:r>
              <a:rPr lang="hu-HU" sz="2000" dirty="0" err="1"/>
              <a:t>stable</a:t>
            </a:r>
            <a:r>
              <a:rPr lang="hu-HU" sz="2000" dirty="0"/>
              <a:t>, </a:t>
            </a:r>
            <a:r>
              <a:rPr lang="hu-HU" sz="2000" dirty="0" err="1"/>
              <a:t>reproducible</a:t>
            </a:r>
            <a:r>
              <a:rPr lang="hu-HU" sz="2000" dirty="0"/>
              <a:t> </a:t>
            </a:r>
            <a:r>
              <a:rPr lang="hu-HU" sz="2000" dirty="0" err="1"/>
              <a:t>predictive</a:t>
            </a:r>
            <a:r>
              <a:rPr lang="hu-HU" sz="2000" dirty="0"/>
              <a:t> </a:t>
            </a:r>
            <a:r>
              <a:rPr lang="hu-HU" sz="2000" dirty="0" err="1"/>
              <a:t>workflow</a:t>
            </a:r>
            <a:endParaRPr lang="hu-HU" sz="2000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D2AAD13-AE85-36D2-2F89-1607ED8A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596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BE6428-998E-3836-2E2F-219B27B0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Contributions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D7FDE0-FCF5-B263-4284-92921FDAC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 err="1"/>
              <a:t>This</a:t>
            </a:r>
            <a:r>
              <a:rPr lang="hu-HU" b="1" dirty="0"/>
              <a:t> </a:t>
            </a:r>
            <a:r>
              <a:rPr lang="hu-HU" b="1" dirty="0" err="1"/>
              <a:t>study</a:t>
            </a:r>
            <a:r>
              <a:rPr lang="hu-HU" b="1" dirty="0"/>
              <a:t> </a:t>
            </a:r>
            <a:r>
              <a:rPr lang="hu-HU" b="1" dirty="0" err="1"/>
              <a:t>contributes</a:t>
            </a:r>
            <a:r>
              <a:rPr lang="hu-HU" b="1" dirty="0"/>
              <a:t> </a:t>
            </a:r>
            <a:r>
              <a:rPr lang="hu-HU" b="1" dirty="0" err="1"/>
              <a:t>three</a:t>
            </a:r>
            <a:r>
              <a:rPr lang="hu-HU" b="1" dirty="0"/>
              <a:t> </a:t>
            </a:r>
            <a:r>
              <a:rPr lang="hu-HU" b="1" dirty="0" err="1"/>
              <a:t>things</a:t>
            </a:r>
            <a:r>
              <a:rPr lang="hu-HU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000" b="1" dirty="0"/>
              <a:t>A </a:t>
            </a:r>
            <a:r>
              <a:rPr lang="hu-HU" sz="2000" b="1" dirty="0" err="1"/>
              <a:t>structured</a:t>
            </a:r>
            <a:r>
              <a:rPr lang="hu-HU" sz="2000" b="1" dirty="0"/>
              <a:t> </a:t>
            </a:r>
            <a:r>
              <a:rPr lang="hu-HU" sz="2000" b="1" dirty="0" err="1"/>
              <a:t>preprocessing</a:t>
            </a:r>
            <a:r>
              <a:rPr lang="hu-HU" sz="2000" b="1" dirty="0"/>
              <a:t> </a:t>
            </a:r>
            <a:r>
              <a:rPr lang="hu-HU" sz="2000" b="1" dirty="0" err="1"/>
              <a:t>pipeline</a:t>
            </a:r>
            <a:endParaRPr lang="hu-HU" sz="2000" b="1" dirty="0"/>
          </a:p>
          <a:p>
            <a:pPr marL="457200" indent="-457200">
              <a:buFont typeface="+mj-lt"/>
              <a:buAutoNum type="arabicPeriod"/>
            </a:pPr>
            <a:r>
              <a:rPr lang="hu-HU" sz="2000" b="1" dirty="0" err="1"/>
              <a:t>Engineered</a:t>
            </a:r>
            <a:r>
              <a:rPr lang="hu-HU" sz="2000" b="1" dirty="0"/>
              <a:t> </a:t>
            </a:r>
            <a:r>
              <a:rPr lang="hu-HU" sz="2000" b="1" dirty="0" err="1"/>
              <a:t>features</a:t>
            </a:r>
            <a:r>
              <a:rPr lang="hu-HU" sz="2000" dirty="0"/>
              <a:t> </a:t>
            </a:r>
            <a:r>
              <a:rPr lang="hu-HU" sz="2000" dirty="0" err="1"/>
              <a:t>capturing</a:t>
            </a:r>
            <a:r>
              <a:rPr lang="hu-HU" sz="2000" dirty="0"/>
              <a:t> </a:t>
            </a:r>
            <a:r>
              <a:rPr lang="hu-HU" sz="2000" dirty="0" err="1"/>
              <a:t>social</a:t>
            </a:r>
            <a:r>
              <a:rPr lang="hu-HU" sz="2000" dirty="0"/>
              <a:t> &amp; </a:t>
            </a:r>
            <a:r>
              <a:rPr lang="hu-HU" sz="2000" dirty="0" err="1"/>
              <a:t>demographic</a:t>
            </a:r>
            <a:r>
              <a:rPr lang="hu-HU" sz="2000" dirty="0"/>
              <a:t> </a:t>
            </a:r>
            <a:r>
              <a:rPr lang="hu-HU" sz="2000" dirty="0" err="1"/>
              <a:t>patterns</a:t>
            </a:r>
            <a:endParaRPr lang="hu-HU" sz="2000" dirty="0"/>
          </a:p>
          <a:p>
            <a:pPr marL="457200" indent="-457200">
              <a:buFont typeface="+mj-lt"/>
              <a:buAutoNum type="arabicPeriod"/>
            </a:pPr>
            <a:r>
              <a:rPr lang="hu-HU" sz="2000" b="1" dirty="0"/>
              <a:t>A </a:t>
            </a:r>
            <a:r>
              <a:rPr lang="hu-HU" sz="2000" b="1" dirty="0" err="1"/>
              <a:t>reproducible</a:t>
            </a:r>
            <a:r>
              <a:rPr lang="hu-HU" sz="2000" b="1" dirty="0"/>
              <a:t> </a:t>
            </a:r>
            <a:r>
              <a:rPr lang="hu-HU" sz="2000" b="1" dirty="0" err="1"/>
              <a:t>evaluation</a:t>
            </a:r>
            <a:r>
              <a:rPr lang="hu-HU" sz="2000" b="1" dirty="0"/>
              <a:t> </a:t>
            </a:r>
            <a:r>
              <a:rPr lang="hu-HU" sz="2000" b="1" dirty="0" err="1"/>
              <a:t>framework</a:t>
            </a:r>
            <a:r>
              <a:rPr lang="hu-HU" sz="2000" dirty="0"/>
              <a:t> </a:t>
            </a:r>
            <a:r>
              <a:rPr lang="hu-HU" sz="2000" dirty="0" err="1"/>
              <a:t>comparing</a:t>
            </a:r>
            <a:r>
              <a:rPr lang="hu-HU" sz="2000" dirty="0"/>
              <a:t> SVC and Random Forest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728216D-0DE6-E97F-298F-A9922240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2844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4B6896-70B9-C066-72AF-4FD04ADC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Data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04C3E865-4653-0A44-E329-456A53720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0208" y="1825625"/>
            <a:ext cx="8907888" cy="4351338"/>
          </a:xfrm>
        </p:spPr>
        <p:txBody>
          <a:bodyPr/>
          <a:lstStyle/>
          <a:p>
            <a:pPr marL="0" indent="0">
              <a:buNone/>
            </a:pPr>
            <a:r>
              <a:rPr lang="hu-HU" sz="2000" b="1" dirty="0" err="1"/>
              <a:t>Dataset</a:t>
            </a:r>
            <a:r>
              <a:rPr lang="hu-HU" sz="2000" b="1" dirty="0"/>
              <a:t>:</a:t>
            </a:r>
          </a:p>
          <a:p>
            <a:r>
              <a:rPr lang="hu-HU" sz="2000" dirty="0"/>
              <a:t>891 </a:t>
            </a:r>
            <a:r>
              <a:rPr lang="hu-HU" sz="2000" dirty="0" err="1"/>
              <a:t>labeled</a:t>
            </a:r>
            <a:r>
              <a:rPr lang="hu-HU" sz="2000" dirty="0"/>
              <a:t> </a:t>
            </a:r>
            <a:r>
              <a:rPr lang="hu-HU" sz="2000" dirty="0" err="1"/>
              <a:t>training</a:t>
            </a:r>
            <a:r>
              <a:rPr lang="hu-HU" sz="2000" dirty="0"/>
              <a:t> </a:t>
            </a:r>
            <a:r>
              <a:rPr lang="hu-HU" sz="2000" dirty="0" err="1"/>
              <a:t>samples</a:t>
            </a:r>
            <a:endParaRPr lang="hu-HU" sz="2000" dirty="0"/>
          </a:p>
          <a:p>
            <a:r>
              <a:rPr lang="hu-HU" sz="2000" dirty="0"/>
              <a:t>418 </a:t>
            </a:r>
            <a:r>
              <a:rPr lang="hu-HU" sz="2000" dirty="0" err="1"/>
              <a:t>unlabeled</a:t>
            </a:r>
            <a:r>
              <a:rPr lang="hu-HU" sz="2000" dirty="0"/>
              <a:t> test </a:t>
            </a:r>
            <a:r>
              <a:rPr lang="hu-HU" sz="2000" dirty="0" err="1"/>
              <a:t>samples</a:t>
            </a:r>
            <a:endParaRPr lang="hu-HU" sz="2000" dirty="0"/>
          </a:p>
          <a:p>
            <a:r>
              <a:rPr lang="hu-HU" sz="2000" dirty="0" err="1"/>
              <a:t>Includes</a:t>
            </a:r>
            <a:r>
              <a:rPr lang="hu-HU" sz="2000" dirty="0"/>
              <a:t> </a:t>
            </a:r>
            <a:r>
              <a:rPr lang="hu-HU" sz="2000" dirty="0" err="1"/>
              <a:t>demographic</a:t>
            </a:r>
            <a:r>
              <a:rPr lang="hu-HU" sz="2000" dirty="0"/>
              <a:t> &amp; </a:t>
            </a:r>
            <a:r>
              <a:rPr lang="hu-HU" sz="2000" dirty="0" err="1"/>
              <a:t>travel-related</a:t>
            </a:r>
            <a:r>
              <a:rPr lang="hu-HU" sz="2000" dirty="0"/>
              <a:t> </a:t>
            </a:r>
            <a:r>
              <a:rPr lang="hu-HU" sz="2000" dirty="0" err="1"/>
              <a:t>attributes</a:t>
            </a:r>
            <a:r>
              <a:rPr lang="hu-HU" sz="2000" dirty="0"/>
              <a:t> (Sex, </a:t>
            </a:r>
            <a:r>
              <a:rPr lang="hu-HU" sz="2000" dirty="0" err="1"/>
              <a:t>Age</a:t>
            </a:r>
            <a:r>
              <a:rPr lang="hu-HU" sz="2000" dirty="0"/>
              <a:t>, </a:t>
            </a:r>
            <a:r>
              <a:rPr lang="hu-HU" sz="2000" dirty="0" err="1"/>
              <a:t>Pclass</a:t>
            </a:r>
            <a:r>
              <a:rPr lang="hu-HU" sz="2000" dirty="0"/>
              <a:t>, </a:t>
            </a:r>
            <a:r>
              <a:rPr lang="hu-HU" sz="2000" dirty="0" err="1"/>
              <a:t>Fare</a:t>
            </a:r>
            <a:r>
              <a:rPr lang="hu-HU" sz="2000" dirty="0"/>
              <a:t>, </a:t>
            </a:r>
            <a:r>
              <a:rPr lang="hu-HU" sz="2000" dirty="0" err="1"/>
              <a:t>SibSp</a:t>
            </a:r>
            <a:r>
              <a:rPr lang="hu-HU" sz="2000" dirty="0"/>
              <a:t>, </a:t>
            </a:r>
            <a:r>
              <a:rPr lang="hu-HU" sz="2000" dirty="0" err="1"/>
              <a:t>Parch</a:t>
            </a:r>
            <a:r>
              <a:rPr lang="hu-HU" sz="2000" dirty="0"/>
              <a:t>, </a:t>
            </a:r>
            <a:r>
              <a:rPr lang="hu-HU" sz="2000" dirty="0" err="1"/>
              <a:t>Embarked</a:t>
            </a:r>
            <a:r>
              <a:rPr lang="hu-HU" sz="2000" dirty="0"/>
              <a:t>, </a:t>
            </a:r>
            <a:r>
              <a:rPr lang="hu-HU" sz="2000" dirty="0" err="1"/>
              <a:t>Cabin</a:t>
            </a:r>
            <a:r>
              <a:rPr lang="hu-HU" sz="2000" dirty="0"/>
              <a:t>, </a:t>
            </a:r>
            <a:r>
              <a:rPr lang="hu-HU" sz="2000" dirty="0" err="1"/>
              <a:t>Ticket</a:t>
            </a:r>
            <a:r>
              <a:rPr lang="hu-HU" sz="2000" dirty="0"/>
              <a:t>, </a:t>
            </a:r>
            <a:r>
              <a:rPr lang="hu-HU" sz="2000" dirty="0" err="1"/>
              <a:t>Name</a:t>
            </a:r>
            <a:r>
              <a:rPr lang="hu-HU" sz="2000" dirty="0"/>
              <a:t>)</a:t>
            </a:r>
          </a:p>
          <a:p>
            <a:r>
              <a:rPr lang="hu-HU" sz="2000" dirty="0" err="1"/>
              <a:t>Contains</a:t>
            </a:r>
            <a:r>
              <a:rPr lang="hu-HU" sz="2000" dirty="0"/>
              <a:t> </a:t>
            </a:r>
            <a:r>
              <a:rPr lang="hu-HU" sz="2000" dirty="0" err="1"/>
              <a:t>heterogeneous</a:t>
            </a:r>
            <a:r>
              <a:rPr lang="hu-HU" sz="2000" dirty="0"/>
              <a:t> </a:t>
            </a:r>
            <a:r>
              <a:rPr lang="hu-HU" sz="2000" dirty="0" err="1"/>
              <a:t>feature</a:t>
            </a:r>
            <a:r>
              <a:rPr lang="hu-HU" sz="2000" dirty="0"/>
              <a:t> </a:t>
            </a:r>
            <a:r>
              <a:rPr lang="hu-HU" sz="2000" dirty="0" err="1"/>
              <a:t>types</a:t>
            </a:r>
            <a:endParaRPr lang="hu-HU" sz="2000" dirty="0"/>
          </a:p>
          <a:p>
            <a:r>
              <a:rPr lang="hu-HU" sz="2000" dirty="0" err="1"/>
              <a:t>Several</a:t>
            </a:r>
            <a:r>
              <a:rPr lang="hu-HU" sz="2000" dirty="0"/>
              <a:t> </a:t>
            </a:r>
            <a:r>
              <a:rPr lang="hu-HU" sz="2000" dirty="0" err="1"/>
              <a:t>fields</a:t>
            </a:r>
            <a:r>
              <a:rPr lang="hu-HU" sz="2000" dirty="0"/>
              <a:t> </a:t>
            </a:r>
            <a:r>
              <a:rPr lang="hu-HU" sz="2000" dirty="0" err="1"/>
              <a:t>have</a:t>
            </a:r>
            <a:r>
              <a:rPr lang="hu-HU" sz="2000" dirty="0"/>
              <a:t> </a:t>
            </a:r>
            <a:r>
              <a:rPr lang="hu-HU" sz="2000" dirty="0" err="1"/>
              <a:t>missing</a:t>
            </a:r>
            <a:r>
              <a:rPr lang="hu-HU" sz="2000" dirty="0"/>
              <a:t> </a:t>
            </a:r>
            <a:r>
              <a:rPr lang="hu-HU" sz="2000" dirty="0" err="1"/>
              <a:t>values</a:t>
            </a:r>
            <a:r>
              <a:rPr lang="hu-HU" sz="2000" dirty="0"/>
              <a:t> (</a:t>
            </a:r>
            <a:r>
              <a:rPr lang="hu-HU" sz="2000" dirty="0" err="1"/>
              <a:t>notably</a:t>
            </a:r>
            <a:r>
              <a:rPr lang="hu-HU" sz="2000" dirty="0"/>
              <a:t> </a:t>
            </a:r>
            <a:r>
              <a:rPr lang="hu-HU" sz="2000" dirty="0" err="1"/>
              <a:t>Age</a:t>
            </a:r>
            <a:r>
              <a:rPr lang="hu-HU" sz="2000" dirty="0"/>
              <a:t>, </a:t>
            </a:r>
            <a:r>
              <a:rPr lang="hu-HU" sz="2000" dirty="0" err="1"/>
              <a:t>cabin</a:t>
            </a:r>
            <a:r>
              <a:rPr lang="hu-HU" sz="2000" dirty="0"/>
              <a:t>, </a:t>
            </a:r>
            <a:r>
              <a:rPr lang="hu-HU" sz="2000" dirty="0" err="1"/>
              <a:t>Embarked</a:t>
            </a:r>
            <a:r>
              <a:rPr lang="hu-HU" sz="2000" dirty="0"/>
              <a:t>)</a:t>
            </a:r>
          </a:p>
          <a:p>
            <a:pPr marL="0" indent="0">
              <a:buNone/>
            </a:pPr>
            <a:endParaRPr lang="hu-HU" sz="2000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F2ECD4E-728A-69CA-7B3D-9369B59585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B10952F-B686-4E00-770C-983817C4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501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D078F-72AE-61F7-5B07-166A98CD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10E444-6D07-3682-0203-D69727D26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Data</a:t>
            </a:r>
          </a:p>
        </p:txBody>
      </p:sp>
      <p:pic>
        <p:nvPicPr>
          <p:cNvPr id="7" name="Tartalom helye 6" descr="A képen szöveg, képernyőkép, diagram, Téglala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2216CF1-5BAE-BD86-7846-EE020DECBC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373097"/>
            <a:ext cx="4876684" cy="4589821"/>
          </a:xfrm>
        </p:spPr>
      </p:pic>
      <p:sp>
        <p:nvSpPr>
          <p:cNvPr id="4" name="Tartalom helye 3">
            <a:extLst>
              <a:ext uri="{FF2B5EF4-FFF2-40B4-BE49-F238E27FC236}">
                <a16:creationId xmlns:a16="http://schemas.microsoft.com/office/drawing/2014/main" id="{B355A605-45A3-A3BD-83CB-87F13551A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FD0D7F8-BF88-4B7A-A4ED-CD1AF89D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5</a:t>
            </a:fld>
            <a:endParaRPr lang="hu-HU"/>
          </a:p>
        </p:txBody>
      </p:sp>
      <p:pic>
        <p:nvPicPr>
          <p:cNvPr id="9" name="Kép 8" descr="A képen szöveg, képernyőkép, Téglalap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A2F0D6D-60CF-323C-0222-A725E7CEA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476"/>
            <a:ext cx="4696000" cy="447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46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7E574D-D416-A9F1-C481-1FC5D008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Preprocessing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C0A8C1E-828F-5CCF-4E90-1E031A021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hu-HU" sz="2000" dirty="0" err="1"/>
              <a:t>Cabin</a:t>
            </a:r>
            <a:r>
              <a:rPr lang="hu-HU" sz="2000" dirty="0"/>
              <a:t> </a:t>
            </a:r>
            <a:r>
              <a:rPr lang="hu-HU" sz="2000" dirty="0" err="1"/>
              <a:t>removed</a:t>
            </a:r>
            <a:r>
              <a:rPr lang="hu-HU" sz="2000" dirty="0"/>
              <a:t> (</a:t>
            </a:r>
            <a:r>
              <a:rPr lang="hu-HU" sz="2000" dirty="0" err="1"/>
              <a:t>majority</a:t>
            </a:r>
            <a:r>
              <a:rPr lang="hu-HU" sz="2000" dirty="0"/>
              <a:t> </a:t>
            </a:r>
            <a:r>
              <a:rPr lang="hu-HU" sz="2000" dirty="0" err="1"/>
              <a:t>missing</a:t>
            </a:r>
            <a:r>
              <a:rPr lang="hu-HU" sz="2000" dirty="0"/>
              <a:t>)</a:t>
            </a:r>
          </a:p>
          <a:p>
            <a:r>
              <a:rPr lang="hu-HU" sz="2000" dirty="0" err="1"/>
              <a:t>Age</a:t>
            </a:r>
            <a:r>
              <a:rPr lang="hu-HU" sz="2000" dirty="0"/>
              <a:t> and </a:t>
            </a:r>
            <a:r>
              <a:rPr lang="hu-HU" sz="2000" dirty="0" err="1"/>
              <a:t>Fare</a:t>
            </a:r>
            <a:r>
              <a:rPr lang="hu-HU" sz="2000" dirty="0"/>
              <a:t> </a:t>
            </a:r>
            <a:r>
              <a:rPr lang="hu-HU" sz="2000" dirty="0" err="1"/>
              <a:t>imputed</a:t>
            </a:r>
            <a:r>
              <a:rPr lang="hu-HU" sz="2000" dirty="0"/>
              <a:t> </a:t>
            </a:r>
            <a:r>
              <a:rPr lang="hu-HU" sz="2000" dirty="0" err="1"/>
              <a:t>using</a:t>
            </a:r>
            <a:r>
              <a:rPr lang="hu-HU" sz="2000" dirty="0"/>
              <a:t>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median</a:t>
            </a:r>
            <a:endParaRPr lang="hu-HU" sz="2000" dirty="0"/>
          </a:p>
          <a:p>
            <a:r>
              <a:rPr lang="hu-HU" sz="2000" dirty="0" err="1"/>
              <a:t>Embarked</a:t>
            </a:r>
            <a:r>
              <a:rPr lang="hu-HU" sz="2000" dirty="0"/>
              <a:t> </a:t>
            </a:r>
            <a:r>
              <a:rPr lang="hu-HU" sz="2000" dirty="0" err="1"/>
              <a:t>imputed</a:t>
            </a:r>
            <a:r>
              <a:rPr lang="hu-HU" sz="2000" dirty="0"/>
              <a:t> </a:t>
            </a:r>
            <a:r>
              <a:rPr lang="hu-HU" sz="2000" dirty="0" err="1"/>
              <a:t>using</a:t>
            </a:r>
            <a:r>
              <a:rPr lang="hu-HU" sz="2000" dirty="0"/>
              <a:t>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mode</a:t>
            </a:r>
            <a:endParaRPr lang="hu-HU" sz="2000" dirty="0"/>
          </a:p>
          <a:p>
            <a:r>
              <a:rPr lang="hu-HU" sz="2000" dirty="0" err="1"/>
              <a:t>Duplicate</a:t>
            </a:r>
            <a:r>
              <a:rPr lang="hu-HU" sz="2000" dirty="0"/>
              <a:t> </a:t>
            </a:r>
            <a:r>
              <a:rPr lang="hu-HU" sz="2000" dirty="0" err="1"/>
              <a:t>rows</a:t>
            </a:r>
            <a:r>
              <a:rPr lang="hu-HU" sz="2000" dirty="0"/>
              <a:t> </a:t>
            </a:r>
            <a:r>
              <a:rPr lang="hu-HU" sz="2000" dirty="0" err="1"/>
              <a:t>removed</a:t>
            </a:r>
            <a:endParaRPr lang="hu-HU" sz="2000" dirty="0"/>
          </a:p>
          <a:p>
            <a:r>
              <a:rPr lang="hu-HU" sz="2000" dirty="0" err="1"/>
              <a:t>Standardized</a:t>
            </a:r>
            <a:r>
              <a:rPr lang="hu-HU" sz="2000" dirty="0"/>
              <a:t> </a:t>
            </a:r>
            <a:r>
              <a:rPr lang="hu-HU" sz="2000" dirty="0" err="1"/>
              <a:t>categorical</a:t>
            </a:r>
            <a:r>
              <a:rPr lang="hu-HU" sz="2000" dirty="0"/>
              <a:t> </a:t>
            </a:r>
            <a:r>
              <a:rPr lang="hu-HU" sz="2000" dirty="0" err="1"/>
              <a:t>attributes</a:t>
            </a:r>
            <a:r>
              <a:rPr lang="hu-HU" sz="2000" dirty="0"/>
              <a:t> (Sex, </a:t>
            </a:r>
            <a:r>
              <a:rPr lang="hu-HU" sz="2000" dirty="0" err="1"/>
              <a:t>Embarked</a:t>
            </a:r>
            <a:r>
              <a:rPr lang="hu-HU" sz="2000" dirty="0"/>
              <a:t>, </a:t>
            </a:r>
            <a:r>
              <a:rPr lang="hu-HU" sz="2000" dirty="0" err="1"/>
              <a:t>Pclass</a:t>
            </a:r>
            <a:r>
              <a:rPr lang="hu-HU" sz="2000" dirty="0"/>
              <a:t>)</a:t>
            </a:r>
          </a:p>
          <a:p>
            <a:r>
              <a:rPr lang="hu-HU" sz="2000" dirty="0"/>
              <a:t>Consistent </a:t>
            </a:r>
            <a:r>
              <a:rPr lang="hu-HU" sz="2000" dirty="0" err="1"/>
              <a:t>label</a:t>
            </a:r>
            <a:r>
              <a:rPr lang="hu-HU" sz="2000" dirty="0"/>
              <a:t> </a:t>
            </a:r>
            <a:r>
              <a:rPr lang="hu-HU" sz="2000" dirty="0" err="1"/>
              <a:t>encoding</a:t>
            </a:r>
            <a:r>
              <a:rPr lang="hu-HU" sz="2000" dirty="0"/>
              <a:t> </a:t>
            </a:r>
            <a:r>
              <a:rPr lang="hu-HU" sz="2000" dirty="0" err="1"/>
              <a:t>for</a:t>
            </a:r>
            <a:r>
              <a:rPr lang="hu-HU" sz="2000" dirty="0"/>
              <a:t> </a:t>
            </a:r>
            <a:r>
              <a:rPr lang="hu-HU" sz="2000" dirty="0" err="1"/>
              <a:t>train</a:t>
            </a:r>
            <a:r>
              <a:rPr lang="hu-HU" sz="2000" dirty="0"/>
              <a:t> and test </a:t>
            </a:r>
            <a:r>
              <a:rPr lang="hu-HU" sz="2000" dirty="0" err="1"/>
              <a:t>sets</a:t>
            </a:r>
            <a:endParaRPr lang="hu-HU" sz="2000" dirty="0"/>
          </a:p>
          <a:p>
            <a:r>
              <a:rPr lang="hu-HU" sz="2000" dirty="0" err="1"/>
              <a:t>Name</a:t>
            </a:r>
            <a:r>
              <a:rPr lang="hu-HU" sz="2000" dirty="0"/>
              <a:t> </a:t>
            </a:r>
            <a:r>
              <a:rPr lang="hu-HU" sz="2000" dirty="0" err="1"/>
              <a:t>preserved</a:t>
            </a:r>
            <a:r>
              <a:rPr lang="hu-HU" sz="2000" dirty="0"/>
              <a:t> </a:t>
            </a:r>
            <a:r>
              <a:rPr lang="hu-HU" sz="2000" dirty="0" err="1"/>
              <a:t>for</a:t>
            </a:r>
            <a:r>
              <a:rPr lang="hu-HU" sz="2000" dirty="0"/>
              <a:t> </a:t>
            </a:r>
            <a:r>
              <a:rPr lang="hu-HU" sz="2000" dirty="0" err="1"/>
              <a:t>later</a:t>
            </a:r>
            <a:r>
              <a:rPr lang="hu-HU" sz="2000" dirty="0"/>
              <a:t> </a:t>
            </a:r>
            <a:r>
              <a:rPr lang="hu-HU" sz="2000" dirty="0" err="1"/>
              <a:t>title</a:t>
            </a:r>
            <a:r>
              <a:rPr lang="hu-HU" sz="2000" dirty="0"/>
              <a:t> </a:t>
            </a:r>
            <a:r>
              <a:rPr lang="hu-HU" sz="2000" dirty="0" err="1"/>
              <a:t>extraction</a:t>
            </a:r>
            <a:endParaRPr lang="hu-HU" sz="2000" dirty="0"/>
          </a:p>
          <a:p>
            <a:r>
              <a:rPr lang="hu-HU" sz="2000" dirty="0" err="1"/>
              <a:t>SibSp</a:t>
            </a:r>
            <a:r>
              <a:rPr lang="hu-HU" sz="2000" dirty="0"/>
              <a:t> and </a:t>
            </a:r>
            <a:r>
              <a:rPr lang="hu-HU" sz="2000" dirty="0" err="1"/>
              <a:t>Parch</a:t>
            </a:r>
            <a:r>
              <a:rPr lang="hu-HU" sz="2000" dirty="0"/>
              <a:t> </a:t>
            </a:r>
            <a:r>
              <a:rPr lang="hu-HU" sz="2000" dirty="0" err="1"/>
              <a:t>preserved</a:t>
            </a:r>
            <a:r>
              <a:rPr lang="hu-HU" sz="2000" dirty="0"/>
              <a:t> </a:t>
            </a:r>
            <a:r>
              <a:rPr lang="hu-HU" sz="2000" dirty="0" err="1"/>
              <a:t>for</a:t>
            </a:r>
            <a:r>
              <a:rPr lang="hu-HU" sz="2000" dirty="0"/>
              <a:t> </a:t>
            </a:r>
            <a:r>
              <a:rPr lang="hu-HU" sz="2000" dirty="0" err="1"/>
              <a:t>family-based</a:t>
            </a:r>
            <a:r>
              <a:rPr lang="hu-HU" sz="2000" dirty="0"/>
              <a:t> </a:t>
            </a:r>
            <a:r>
              <a:rPr lang="hu-HU" sz="2000" dirty="0" err="1"/>
              <a:t>features</a:t>
            </a:r>
            <a:endParaRPr lang="hu-HU" sz="2000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1EEB49D-68C5-97FA-875C-F3E0CDA0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0800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D3B883-EA76-EFCE-FB02-7091C9EE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Feature</a:t>
            </a:r>
            <a:r>
              <a:rPr lang="hu-HU" dirty="0"/>
              <a:t> </a:t>
            </a:r>
            <a:r>
              <a:rPr lang="hu-HU" dirty="0" err="1"/>
              <a:t>Engineering</a:t>
            </a:r>
            <a:endParaRPr lang="hu-HU" dirty="0"/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430AF569-A2AD-1529-0030-E3DA32437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sz="2000" b="1" dirty="0" err="1"/>
              <a:t>Family-based</a:t>
            </a:r>
            <a:r>
              <a:rPr lang="hu-HU" sz="2000" b="1" dirty="0"/>
              <a:t> </a:t>
            </a:r>
            <a:r>
              <a:rPr lang="hu-HU" sz="2000" b="1" dirty="0" err="1"/>
              <a:t>features</a:t>
            </a:r>
            <a:r>
              <a:rPr lang="hu-HU" sz="2000" b="1" dirty="0"/>
              <a:t>:</a:t>
            </a:r>
          </a:p>
          <a:p>
            <a:r>
              <a:rPr lang="hu-HU" sz="2000" i="1" dirty="0" err="1"/>
              <a:t>FamilySize</a:t>
            </a:r>
            <a:r>
              <a:rPr lang="hu-HU" sz="2000" i="1" dirty="0"/>
              <a:t> = </a:t>
            </a:r>
            <a:r>
              <a:rPr lang="hu-HU" sz="2000" i="1" dirty="0" err="1"/>
              <a:t>SibSp</a:t>
            </a:r>
            <a:r>
              <a:rPr lang="hu-HU" sz="2000" i="1" dirty="0"/>
              <a:t> + </a:t>
            </a:r>
            <a:r>
              <a:rPr lang="hu-HU" sz="2000" i="1" dirty="0" err="1"/>
              <a:t>Parch</a:t>
            </a:r>
            <a:r>
              <a:rPr lang="hu-HU" sz="2000" i="1" dirty="0"/>
              <a:t> + 1</a:t>
            </a:r>
          </a:p>
          <a:p>
            <a:r>
              <a:rPr lang="hu-HU" sz="2000" i="1" dirty="0" err="1"/>
              <a:t>IsAlone</a:t>
            </a:r>
            <a:r>
              <a:rPr lang="hu-HU" sz="2000" dirty="0"/>
              <a:t> </a:t>
            </a:r>
            <a:r>
              <a:rPr lang="hu-HU" sz="2000" dirty="0" err="1"/>
              <a:t>indicator</a:t>
            </a:r>
            <a:r>
              <a:rPr lang="hu-HU" sz="2000" dirty="0"/>
              <a:t> → Strong </a:t>
            </a:r>
            <a:r>
              <a:rPr lang="hu-HU" sz="2000" dirty="0" err="1"/>
              <a:t>correlation</a:t>
            </a:r>
            <a:r>
              <a:rPr lang="hu-HU" sz="2000" dirty="0"/>
              <a:t> </a:t>
            </a:r>
            <a:r>
              <a:rPr lang="hu-HU" sz="2000" dirty="0" err="1"/>
              <a:t>with</a:t>
            </a:r>
            <a:r>
              <a:rPr lang="hu-HU" sz="2000" dirty="0"/>
              <a:t> </a:t>
            </a:r>
            <a:r>
              <a:rPr lang="hu-HU" sz="2000" dirty="0" err="1"/>
              <a:t>survival</a:t>
            </a:r>
            <a:r>
              <a:rPr lang="hu-HU" sz="2000" dirty="0"/>
              <a:t> </a:t>
            </a:r>
            <a:r>
              <a:rPr lang="hu-HU" sz="2000" dirty="0" err="1"/>
              <a:t>likelihood</a:t>
            </a:r>
            <a:endParaRPr lang="hu-HU" sz="2000" dirty="0"/>
          </a:p>
          <a:p>
            <a:pPr marL="0" indent="0">
              <a:buNone/>
            </a:pPr>
            <a:r>
              <a:rPr lang="hu-HU" sz="2000" b="1" dirty="0" err="1"/>
              <a:t>Title</a:t>
            </a:r>
            <a:r>
              <a:rPr lang="hu-HU" sz="2000" b="1" dirty="0"/>
              <a:t> </a:t>
            </a:r>
            <a:r>
              <a:rPr lang="hu-HU" sz="2000" b="1" dirty="0" err="1"/>
              <a:t>extraction</a:t>
            </a:r>
            <a:r>
              <a:rPr lang="hu-HU" sz="2000" b="1" dirty="0"/>
              <a:t>:</a:t>
            </a:r>
          </a:p>
          <a:p>
            <a:r>
              <a:rPr lang="hu-HU" sz="2000" dirty="0" err="1"/>
              <a:t>Extract</a:t>
            </a:r>
            <a:r>
              <a:rPr lang="hu-HU" sz="2000" dirty="0"/>
              <a:t> </a:t>
            </a:r>
            <a:r>
              <a:rPr lang="hu-HU" sz="2000" dirty="0" err="1"/>
              <a:t>titles</a:t>
            </a:r>
            <a:r>
              <a:rPr lang="hu-HU" sz="2000" dirty="0"/>
              <a:t> </a:t>
            </a:r>
            <a:r>
              <a:rPr lang="hu-HU" sz="2000" dirty="0" err="1"/>
              <a:t>using</a:t>
            </a:r>
            <a:r>
              <a:rPr lang="hu-HU" sz="2000" dirty="0"/>
              <a:t> </a:t>
            </a:r>
            <a:r>
              <a:rPr lang="hu-HU" sz="2000" dirty="0" err="1"/>
              <a:t>regex</a:t>
            </a:r>
            <a:r>
              <a:rPr lang="hu-HU" sz="2000" dirty="0"/>
              <a:t> (</a:t>
            </a:r>
            <a:r>
              <a:rPr lang="hu-HU" sz="2000" dirty="0" err="1"/>
              <a:t>Mr</a:t>
            </a:r>
            <a:r>
              <a:rPr lang="hu-HU" sz="2000" dirty="0"/>
              <a:t>, </a:t>
            </a:r>
            <a:r>
              <a:rPr lang="hu-HU" sz="2000" dirty="0" err="1"/>
              <a:t>Mrs</a:t>
            </a:r>
            <a:r>
              <a:rPr lang="hu-HU" sz="2000" dirty="0"/>
              <a:t>, </a:t>
            </a:r>
            <a:r>
              <a:rPr lang="hu-HU" sz="2000" dirty="0" err="1"/>
              <a:t>Miss</a:t>
            </a:r>
            <a:r>
              <a:rPr lang="hu-HU" sz="2000" dirty="0"/>
              <a:t>, Master, Dr...)</a:t>
            </a:r>
          </a:p>
          <a:p>
            <a:r>
              <a:rPr lang="hu-HU" sz="2000" dirty="0" err="1"/>
              <a:t>Merge</a:t>
            </a:r>
            <a:r>
              <a:rPr lang="hu-HU" sz="2000" dirty="0"/>
              <a:t> </a:t>
            </a:r>
            <a:r>
              <a:rPr lang="hu-HU" sz="2000" dirty="0" err="1"/>
              <a:t>rare</a:t>
            </a:r>
            <a:r>
              <a:rPr lang="hu-HU" sz="2000" dirty="0"/>
              <a:t> </a:t>
            </a:r>
            <a:r>
              <a:rPr lang="hu-HU" sz="2000" dirty="0" err="1"/>
              <a:t>titles</a:t>
            </a:r>
            <a:r>
              <a:rPr lang="hu-HU" sz="2000" dirty="0"/>
              <a:t> → ’’</a:t>
            </a:r>
            <a:r>
              <a:rPr lang="hu-HU" sz="2000" dirty="0" err="1"/>
              <a:t>Rare</a:t>
            </a:r>
            <a:r>
              <a:rPr lang="hu-HU" sz="2000" dirty="0"/>
              <a:t>’’</a:t>
            </a:r>
          </a:p>
          <a:p>
            <a:r>
              <a:rPr lang="hu-HU" sz="2000" dirty="0" err="1"/>
              <a:t>Normalize</a:t>
            </a:r>
            <a:r>
              <a:rPr lang="hu-HU" sz="2000" dirty="0"/>
              <a:t> </a:t>
            </a:r>
            <a:r>
              <a:rPr lang="hu-HU" sz="2000" dirty="0" err="1"/>
              <a:t>female</a:t>
            </a:r>
            <a:r>
              <a:rPr lang="hu-HU" sz="2000" dirty="0"/>
              <a:t> </a:t>
            </a:r>
            <a:r>
              <a:rPr lang="hu-HU" sz="2000" dirty="0" err="1"/>
              <a:t>title</a:t>
            </a:r>
            <a:r>
              <a:rPr lang="hu-HU" sz="2000" dirty="0"/>
              <a:t> (</a:t>
            </a:r>
            <a:r>
              <a:rPr lang="hu-HU" sz="2000" dirty="0" err="1"/>
              <a:t>Mlle</a:t>
            </a:r>
            <a:r>
              <a:rPr lang="hu-HU" sz="2000" dirty="0"/>
              <a:t>, </a:t>
            </a:r>
            <a:r>
              <a:rPr lang="hu-HU" sz="2000" dirty="0" err="1"/>
              <a:t>Ms</a:t>
            </a:r>
            <a:r>
              <a:rPr lang="hu-HU" sz="2000" dirty="0"/>
              <a:t>, Mme)</a:t>
            </a:r>
          </a:p>
          <a:p>
            <a:pPr marL="0" indent="0">
              <a:buNone/>
            </a:pPr>
            <a:r>
              <a:rPr lang="hu-HU" sz="2000" b="1" dirty="0" err="1"/>
              <a:t>Discretization</a:t>
            </a:r>
            <a:r>
              <a:rPr lang="hu-HU" sz="2000" b="1" dirty="0"/>
              <a:t>:</a:t>
            </a:r>
          </a:p>
          <a:p>
            <a:r>
              <a:rPr lang="hu-HU" sz="2000" dirty="0" err="1"/>
              <a:t>Age</a:t>
            </a:r>
            <a:r>
              <a:rPr lang="hu-HU" sz="2000" dirty="0"/>
              <a:t> </a:t>
            </a:r>
            <a:r>
              <a:rPr lang="hu-HU" sz="2000" dirty="0" err="1"/>
              <a:t>groups</a:t>
            </a:r>
            <a:r>
              <a:rPr lang="hu-HU" sz="2000" dirty="0"/>
              <a:t> → </a:t>
            </a:r>
            <a:r>
              <a:rPr lang="hu-HU" sz="2000" dirty="0" err="1"/>
              <a:t>Child</a:t>
            </a:r>
            <a:r>
              <a:rPr lang="hu-HU" sz="2000" dirty="0"/>
              <a:t>, </a:t>
            </a:r>
            <a:r>
              <a:rPr lang="hu-HU" sz="2000" dirty="0" err="1"/>
              <a:t>Teenager</a:t>
            </a:r>
            <a:r>
              <a:rPr lang="hu-HU" sz="2000" dirty="0"/>
              <a:t>, </a:t>
            </a:r>
            <a:r>
              <a:rPr lang="hu-HU" sz="2000" dirty="0" err="1"/>
              <a:t>Adult</a:t>
            </a:r>
            <a:r>
              <a:rPr lang="hu-HU" sz="2000" dirty="0"/>
              <a:t>, </a:t>
            </a:r>
            <a:r>
              <a:rPr lang="hu-HU" sz="2000" dirty="0" err="1"/>
              <a:t>Middle</a:t>
            </a:r>
            <a:r>
              <a:rPr lang="hu-HU" sz="2000" dirty="0"/>
              <a:t>, </a:t>
            </a:r>
            <a:r>
              <a:rPr lang="hu-HU" sz="2000" dirty="0" err="1"/>
              <a:t>Senior</a:t>
            </a:r>
            <a:endParaRPr lang="hu-HU" sz="2000" dirty="0"/>
          </a:p>
          <a:p>
            <a:r>
              <a:rPr lang="hu-HU" sz="2000" dirty="0" err="1"/>
              <a:t>Fare</a:t>
            </a:r>
            <a:r>
              <a:rPr lang="hu-HU" sz="2000" dirty="0"/>
              <a:t> </a:t>
            </a:r>
            <a:r>
              <a:rPr lang="hu-HU" sz="2000" dirty="0" err="1"/>
              <a:t>quartiles</a:t>
            </a:r>
            <a:r>
              <a:rPr lang="hu-HU" sz="2000" dirty="0"/>
              <a:t> → </a:t>
            </a:r>
            <a:r>
              <a:rPr lang="hu-HU" sz="2000" dirty="0" err="1"/>
              <a:t>lower</a:t>
            </a:r>
            <a:r>
              <a:rPr lang="hu-HU" sz="2000" dirty="0"/>
              <a:t>/</a:t>
            </a:r>
            <a:r>
              <a:rPr lang="hu-HU" sz="2000" dirty="0" err="1"/>
              <a:t>medium</a:t>
            </a:r>
            <a:r>
              <a:rPr lang="hu-HU" sz="2000" dirty="0"/>
              <a:t>/</a:t>
            </a:r>
            <a:r>
              <a:rPr lang="hu-HU" sz="2000" dirty="0" err="1"/>
              <a:t>high</a:t>
            </a:r>
            <a:r>
              <a:rPr lang="hu-HU" sz="2000" dirty="0"/>
              <a:t> </a:t>
            </a:r>
            <a:r>
              <a:rPr lang="hu-HU" sz="2000" dirty="0" err="1"/>
              <a:t>price</a:t>
            </a:r>
            <a:r>
              <a:rPr lang="hu-HU" sz="2000" dirty="0"/>
              <a:t> </a:t>
            </a:r>
            <a:r>
              <a:rPr lang="hu-HU" sz="2000" dirty="0" err="1"/>
              <a:t>ranges</a:t>
            </a:r>
            <a:endParaRPr lang="hu-HU" sz="2000" dirty="0"/>
          </a:p>
          <a:p>
            <a:pPr marL="0" indent="0">
              <a:buNone/>
            </a:pPr>
            <a:br>
              <a:rPr lang="hu-HU" sz="2000" dirty="0"/>
            </a:br>
            <a:r>
              <a:rPr lang="hu-HU" sz="2000" b="1" dirty="0" err="1"/>
              <a:t>All</a:t>
            </a:r>
            <a:r>
              <a:rPr lang="hu-HU" sz="2000" b="1" dirty="0"/>
              <a:t> </a:t>
            </a:r>
            <a:r>
              <a:rPr lang="hu-HU" sz="2000" b="1" dirty="0" err="1"/>
              <a:t>engineered</a:t>
            </a:r>
            <a:r>
              <a:rPr lang="hu-HU" sz="2000" b="1" dirty="0"/>
              <a:t> </a:t>
            </a:r>
            <a:r>
              <a:rPr lang="hu-HU" sz="2000" b="1" dirty="0" err="1"/>
              <a:t>categories</a:t>
            </a:r>
            <a:r>
              <a:rPr lang="hu-HU" sz="2000" b="1" dirty="0"/>
              <a:t> </a:t>
            </a:r>
            <a:r>
              <a:rPr lang="hu-HU" sz="2000" b="1" dirty="0" err="1"/>
              <a:t>label-encoded</a:t>
            </a:r>
            <a:endParaRPr lang="hu-HU" sz="2000" b="1" dirty="0"/>
          </a:p>
          <a:p>
            <a:endParaRPr lang="hu-HU" sz="20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43B06EE-671D-38EB-A4C1-1738E489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7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38714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B9EE12-FF01-F0E6-3D8D-F21D839F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468"/>
            <a:ext cx="10515600" cy="1325563"/>
          </a:xfrm>
        </p:spPr>
        <p:txBody>
          <a:bodyPr/>
          <a:lstStyle/>
          <a:p>
            <a:r>
              <a:rPr lang="hu-HU" dirty="0" err="1"/>
              <a:t>Correlation</a:t>
            </a:r>
            <a:r>
              <a:rPr lang="hu-HU" dirty="0"/>
              <a:t> </a:t>
            </a:r>
            <a:r>
              <a:rPr lang="hu-HU" dirty="0" err="1"/>
              <a:t>Matrix</a:t>
            </a:r>
            <a:endParaRPr lang="hu-HU" dirty="0"/>
          </a:p>
        </p:txBody>
      </p:sp>
      <p:pic>
        <p:nvPicPr>
          <p:cNvPr id="6" name="Tartalom helye 5" descr="A képen képernyőkép, szöveg, Színesség, té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A683A3C-061C-BFE0-45BF-E9E278C48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3438" y="1146221"/>
            <a:ext cx="4944815" cy="5093274"/>
          </a:xfrm>
        </p:spPr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66E527E-F2F7-187A-7107-81595E9A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8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48851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D868BA-5F1E-8A94-EAA1-A025FA80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Methodology</a:t>
            </a:r>
            <a:endParaRPr lang="hu-HU" dirty="0"/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09DF8864-F1B9-983F-B3CF-61885E825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2000" b="1" dirty="0" err="1"/>
              <a:t>Problem</a:t>
            </a:r>
            <a:r>
              <a:rPr lang="hu-HU" sz="2000" b="1" dirty="0"/>
              <a:t> </a:t>
            </a:r>
            <a:r>
              <a:rPr lang="hu-HU" sz="2000" b="1" dirty="0" err="1"/>
              <a:t>formulation</a:t>
            </a:r>
            <a:r>
              <a:rPr lang="hu-HU" sz="2000" b="1" dirty="0"/>
              <a:t>:</a:t>
            </a:r>
          </a:p>
          <a:p>
            <a:pPr marL="0" indent="0">
              <a:buNone/>
            </a:pPr>
            <a:r>
              <a:rPr lang="hu-HU" sz="2000" dirty="0" err="1"/>
              <a:t>Supervies</a:t>
            </a:r>
            <a:r>
              <a:rPr lang="hu-HU" sz="2000" dirty="0"/>
              <a:t> </a:t>
            </a:r>
            <a:r>
              <a:rPr lang="hu-HU" sz="2000" dirty="0" err="1"/>
              <a:t>binary</a:t>
            </a:r>
            <a:r>
              <a:rPr lang="hu-HU" sz="2000" dirty="0"/>
              <a:t> </a:t>
            </a:r>
            <a:r>
              <a:rPr lang="hu-HU" sz="2000" dirty="0" err="1"/>
              <a:t>classification</a:t>
            </a:r>
            <a:r>
              <a:rPr lang="hu-HU" sz="2000" dirty="0"/>
              <a:t> (</a:t>
            </a:r>
            <a:r>
              <a:rPr lang="hu-HU" sz="2000" dirty="0" err="1"/>
              <a:t>Survived</a:t>
            </a:r>
            <a:r>
              <a:rPr lang="hu-HU" sz="2000" dirty="0"/>
              <a:t> </a:t>
            </a:r>
            <a:r>
              <a:rPr lang="hu-HU" sz="2000" dirty="0" err="1"/>
              <a:t>vs</a:t>
            </a:r>
            <a:r>
              <a:rPr lang="hu-HU" sz="2000" dirty="0"/>
              <a:t> </a:t>
            </a:r>
            <a:r>
              <a:rPr lang="hu-HU" sz="2000" dirty="0" err="1"/>
              <a:t>Not</a:t>
            </a:r>
            <a:r>
              <a:rPr lang="hu-HU" sz="2000" dirty="0"/>
              <a:t> </a:t>
            </a:r>
            <a:r>
              <a:rPr lang="hu-HU" sz="2000" dirty="0" err="1"/>
              <a:t>Survived</a:t>
            </a:r>
            <a:r>
              <a:rPr lang="hu-HU" sz="2000" dirty="0"/>
              <a:t>)</a:t>
            </a:r>
            <a:br>
              <a:rPr lang="hu-HU" sz="2000" dirty="0"/>
            </a:br>
            <a:endParaRPr lang="hu-HU" sz="2000" dirty="0"/>
          </a:p>
          <a:p>
            <a:pPr marL="0" indent="0">
              <a:buNone/>
            </a:pPr>
            <a:r>
              <a:rPr lang="hu-HU" sz="2000" b="1" dirty="0" err="1"/>
              <a:t>Models</a:t>
            </a:r>
            <a:r>
              <a:rPr lang="hu-HU" sz="2000" b="1" dirty="0"/>
              <a:t> </a:t>
            </a:r>
            <a:r>
              <a:rPr lang="hu-HU" sz="2000" b="1" dirty="0" err="1"/>
              <a:t>used</a:t>
            </a:r>
            <a:r>
              <a:rPr lang="hu-HU" sz="2000" b="1" dirty="0"/>
              <a:t>:</a:t>
            </a:r>
          </a:p>
          <a:p>
            <a:r>
              <a:rPr lang="hu-HU" sz="2000" dirty="0" err="1"/>
              <a:t>Support</a:t>
            </a:r>
            <a:r>
              <a:rPr lang="hu-HU" sz="2000" dirty="0"/>
              <a:t> </a:t>
            </a:r>
            <a:r>
              <a:rPr lang="hu-HU" sz="2000" dirty="0" err="1"/>
              <a:t>Vector</a:t>
            </a:r>
            <a:r>
              <a:rPr lang="hu-HU" sz="2000" dirty="0"/>
              <a:t> </a:t>
            </a:r>
            <a:r>
              <a:rPr lang="hu-HU" sz="2000" dirty="0" err="1"/>
              <a:t>Classifier</a:t>
            </a:r>
            <a:r>
              <a:rPr lang="hu-HU" sz="2000" dirty="0"/>
              <a:t> (RBF kernel)</a:t>
            </a:r>
          </a:p>
          <a:p>
            <a:r>
              <a:rPr lang="hu-HU" sz="2000" dirty="0"/>
              <a:t>Random Forest</a:t>
            </a:r>
          </a:p>
          <a:p>
            <a:pPr marL="0" indent="0">
              <a:buNone/>
            </a:pPr>
            <a:r>
              <a:rPr lang="hu-HU" sz="2000" b="1" dirty="0" err="1"/>
              <a:t>Evaluation</a:t>
            </a:r>
            <a:r>
              <a:rPr lang="hu-HU" sz="2000" b="1" dirty="0"/>
              <a:t> </a:t>
            </a:r>
            <a:r>
              <a:rPr lang="hu-HU" sz="2000" b="1" dirty="0" err="1"/>
              <a:t>setup</a:t>
            </a:r>
            <a:r>
              <a:rPr lang="hu-HU" sz="2000" b="1" dirty="0"/>
              <a:t>:</a:t>
            </a:r>
          </a:p>
          <a:p>
            <a:r>
              <a:rPr lang="hu-HU" sz="2000" dirty="0"/>
              <a:t>80-20 </a:t>
            </a:r>
            <a:r>
              <a:rPr lang="hu-HU" sz="2000" dirty="0" err="1"/>
              <a:t>stratified</a:t>
            </a:r>
            <a:r>
              <a:rPr lang="hu-HU" sz="2000" dirty="0"/>
              <a:t> </a:t>
            </a:r>
            <a:r>
              <a:rPr lang="hu-HU" sz="2000" dirty="0" err="1"/>
              <a:t>split</a:t>
            </a:r>
            <a:endParaRPr lang="hu-HU" sz="2000" dirty="0"/>
          </a:p>
          <a:p>
            <a:r>
              <a:rPr lang="hu-HU" sz="2000" dirty="0"/>
              <a:t>No </a:t>
            </a:r>
            <a:r>
              <a:rPr lang="hu-HU" sz="2000" dirty="0" err="1"/>
              <a:t>aggressive</a:t>
            </a:r>
            <a:r>
              <a:rPr lang="hu-HU" sz="2000" dirty="0"/>
              <a:t> </a:t>
            </a:r>
            <a:r>
              <a:rPr lang="hu-HU" sz="2000" dirty="0" err="1"/>
              <a:t>hyperparameter</a:t>
            </a:r>
            <a:r>
              <a:rPr lang="hu-HU" sz="2000" dirty="0"/>
              <a:t> </a:t>
            </a:r>
            <a:r>
              <a:rPr lang="hu-HU" sz="2000" dirty="0" err="1"/>
              <a:t>tuning</a:t>
            </a:r>
            <a:endParaRPr lang="hu-HU" sz="2000" dirty="0"/>
          </a:p>
          <a:p>
            <a:r>
              <a:rPr lang="hu-HU" sz="2000" dirty="0" err="1"/>
              <a:t>Metric</a:t>
            </a:r>
            <a:r>
              <a:rPr lang="hu-HU" sz="2000" dirty="0"/>
              <a:t>: </a:t>
            </a:r>
            <a:r>
              <a:rPr lang="hu-HU" sz="2000" dirty="0" err="1"/>
              <a:t>accuracy</a:t>
            </a:r>
            <a:endParaRPr lang="hu-HU" sz="2000" dirty="0"/>
          </a:p>
          <a:p>
            <a:r>
              <a:rPr lang="hu-HU" sz="2000" dirty="0" err="1"/>
              <a:t>Confusion</a:t>
            </a:r>
            <a:r>
              <a:rPr lang="hu-HU" sz="2000" dirty="0"/>
              <a:t> </a:t>
            </a:r>
            <a:r>
              <a:rPr lang="hu-HU" sz="2000" dirty="0" err="1"/>
              <a:t>matrix</a:t>
            </a:r>
            <a:r>
              <a:rPr lang="hu-HU" sz="2000" dirty="0"/>
              <a:t> </a:t>
            </a:r>
            <a:r>
              <a:rPr lang="hu-HU" sz="2000" dirty="0" err="1"/>
              <a:t>used</a:t>
            </a:r>
            <a:r>
              <a:rPr lang="hu-HU" sz="2000" dirty="0"/>
              <a:t> </a:t>
            </a:r>
            <a:r>
              <a:rPr lang="hu-HU" sz="2000" dirty="0" err="1"/>
              <a:t>to</a:t>
            </a:r>
            <a:r>
              <a:rPr lang="hu-HU" sz="2000" dirty="0"/>
              <a:t> </a:t>
            </a:r>
            <a:r>
              <a:rPr lang="hu-HU" sz="2000" dirty="0" err="1"/>
              <a:t>inspect</a:t>
            </a:r>
            <a:r>
              <a:rPr lang="hu-HU" sz="2000" dirty="0"/>
              <a:t> </a:t>
            </a:r>
            <a:r>
              <a:rPr lang="hu-HU" sz="2000" dirty="0" err="1"/>
              <a:t>misclassification</a:t>
            </a:r>
            <a:r>
              <a:rPr lang="hu-HU" sz="2000" dirty="0"/>
              <a:t> </a:t>
            </a:r>
            <a:r>
              <a:rPr lang="hu-HU" sz="2000" dirty="0" err="1"/>
              <a:t>patterns</a:t>
            </a:r>
            <a:endParaRPr lang="hu-HU" sz="20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D035AB1-DBE7-0250-5070-28C11D44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42748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D2A56E-E4C3-9528-06CC-6799BE553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Results</a:t>
            </a:r>
            <a:r>
              <a:rPr lang="hu-HU" dirty="0"/>
              <a:t> 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D6EF125E-5EE8-0815-F0F2-3D432BDD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68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000" b="1" dirty="0" err="1"/>
              <a:t>Validation</a:t>
            </a:r>
            <a:r>
              <a:rPr lang="hu-HU" sz="2000" b="1" dirty="0"/>
              <a:t> </a:t>
            </a:r>
            <a:r>
              <a:rPr lang="hu-HU" sz="2000" b="1" dirty="0" err="1"/>
              <a:t>Accuracy</a:t>
            </a:r>
            <a:r>
              <a:rPr lang="hu-HU" sz="2000" b="1" dirty="0"/>
              <a:t>:</a:t>
            </a:r>
          </a:p>
          <a:p>
            <a:r>
              <a:rPr lang="hu-HU" sz="2000" b="1" dirty="0"/>
              <a:t>SVC</a:t>
            </a:r>
            <a:r>
              <a:rPr lang="hu-HU" sz="2000" dirty="0"/>
              <a:t>: 0.80-0.82</a:t>
            </a:r>
          </a:p>
          <a:p>
            <a:r>
              <a:rPr lang="hu-HU" sz="2000" b="1" dirty="0"/>
              <a:t>Random Forest</a:t>
            </a:r>
            <a:r>
              <a:rPr lang="hu-HU" sz="2000" dirty="0"/>
              <a:t>: 0.83-0.86 (</a:t>
            </a:r>
            <a:r>
              <a:rPr lang="hu-HU" sz="2000" dirty="0" err="1"/>
              <a:t>best</a:t>
            </a:r>
            <a:r>
              <a:rPr lang="hu-HU" sz="2000" dirty="0"/>
              <a:t>)</a:t>
            </a:r>
          </a:p>
          <a:p>
            <a:pPr marL="0" indent="0">
              <a:buNone/>
            </a:pPr>
            <a:r>
              <a:rPr lang="hu-HU" sz="2000" b="1" dirty="0"/>
              <a:t>Key </a:t>
            </a:r>
            <a:r>
              <a:rPr lang="hu-HU" sz="2000" b="1" dirty="0" err="1"/>
              <a:t>Observations</a:t>
            </a:r>
            <a:r>
              <a:rPr lang="hu-HU" sz="2000" b="1" dirty="0"/>
              <a:t>:</a:t>
            </a:r>
          </a:p>
          <a:p>
            <a:r>
              <a:rPr lang="hu-HU" sz="2000" dirty="0"/>
              <a:t>RF </a:t>
            </a:r>
            <a:r>
              <a:rPr lang="hu-HU" sz="2000" dirty="0" err="1"/>
              <a:t>benefits</a:t>
            </a:r>
            <a:r>
              <a:rPr lang="hu-HU" sz="2000" dirty="0"/>
              <a:t> </a:t>
            </a:r>
            <a:r>
              <a:rPr lang="hu-HU" sz="2000" dirty="0" err="1"/>
              <a:t>from</a:t>
            </a:r>
            <a:r>
              <a:rPr lang="hu-HU" sz="2000" dirty="0"/>
              <a:t> </a:t>
            </a:r>
            <a:r>
              <a:rPr lang="hu-HU" sz="2000" dirty="0" err="1"/>
              <a:t>engineered</a:t>
            </a:r>
            <a:r>
              <a:rPr lang="hu-HU" sz="2000" dirty="0"/>
              <a:t> </a:t>
            </a:r>
            <a:r>
              <a:rPr lang="hu-HU" sz="2000" dirty="0" err="1"/>
              <a:t>features</a:t>
            </a:r>
            <a:endParaRPr lang="hu-HU" sz="2000" dirty="0"/>
          </a:p>
          <a:p>
            <a:r>
              <a:rPr lang="hu-HU" sz="2000" dirty="0"/>
              <a:t>Most </a:t>
            </a:r>
            <a:r>
              <a:rPr lang="hu-HU" sz="2000" dirty="0" err="1"/>
              <a:t>important</a:t>
            </a:r>
            <a:r>
              <a:rPr lang="hu-HU" sz="2000" dirty="0"/>
              <a:t> </a:t>
            </a:r>
            <a:r>
              <a:rPr lang="hu-HU" sz="2000" dirty="0" err="1"/>
              <a:t>predictors</a:t>
            </a:r>
            <a:r>
              <a:rPr lang="hu-HU" sz="2000" dirty="0"/>
              <a:t>: Sex, </a:t>
            </a:r>
            <a:r>
              <a:rPr lang="hu-HU" sz="2000" dirty="0" err="1"/>
              <a:t>Fare</a:t>
            </a:r>
            <a:r>
              <a:rPr lang="hu-HU" sz="2000" dirty="0"/>
              <a:t>, </a:t>
            </a:r>
            <a:r>
              <a:rPr lang="hu-HU" sz="2000" dirty="0" err="1"/>
              <a:t>Age</a:t>
            </a:r>
            <a:r>
              <a:rPr lang="hu-HU" sz="2000" dirty="0"/>
              <a:t>, </a:t>
            </a:r>
            <a:r>
              <a:rPr lang="hu-HU" sz="2000" dirty="0" err="1"/>
              <a:t>Title</a:t>
            </a:r>
            <a:r>
              <a:rPr lang="hu-HU" sz="2000" dirty="0"/>
              <a:t>, </a:t>
            </a:r>
            <a:r>
              <a:rPr lang="hu-HU" sz="2000" dirty="0" err="1"/>
              <a:t>Pclass</a:t>
            </a:r>
            <a:endParaRPr lang="hu-HU" sz="2000" dirty="0"/>
          </a:p>
          <a:p>
            <a:r>
              <a:rPr lang="hu-HU" sz="2000" dirty="0" err="1"/>
              <a:t>Misclassifications</a:t>
            </a:r>
            <a:r>
              <a:rPr lang="hu-HU" sz="2000" dirty="0"/>
              <a:t> </a:t>
            </a:r>
            <a:r>
              <a:rPr lang="hu-HU" sz="2000" dirty="0" err="1"/>
              <a:t>concentrated</a:t>
            </a:r>
            <a:r>
              <a:rPr lang="hu-HU" sz="2000" dirty="0"/>
              <a:t> </a:t>
            </a:r>
            <a:r>
              <a:rPr lang="hu-HU" sz="2000" dirty="0" err="1"/>
              <a:t>among</a:t>
            </a:r>
            <a:r>
              <a:rPr lang="hu-HU" sz="2000" dirty="0"/>
              <a:t> </a:t>
            </a:r>
            <a:r>
              <a:rPr lang="hu-HU" sz="2000" dirty="0" err="1"/>
              <a:t>adult</a:t>
            </a:r>
            <a:r>
              <a:rPr lang="hu-HU" sz="2000" dirty="0"/>
              <a:t> </a:t>
            </a:r>
            <a:r>
              <a:rPr lang="hu-HU" sz="2000" dirty="0" err="1"/>
              <a:t>males</a:t>
            </a:r>
            <a:endParaRPr lang="hu-HU" sz="2000" dirty="0"/>
          </a:p>
          <a:p>
            <a:r>
              <a:rPr lang="hu-HU" sz="2000" dirty="0"/>
              <a:t>Strong performance </a:t>
            </a:r>
            <a:r>
              <a:rPr lang="hu-HU" sz="2000" dirty="0" err="1"/>
              <a:t>on</a:t>
            </a:r>
            <a:r>
              <a:rPr lang="hu-HU" sz="2000" dirty="0"/>
              <a:t> </a:t>
            </a:r>
            <a:r>
              <a:rPr lang="hu-HU" sz="2000" dirty="0" err="1"/>
              <a:t>female</a:t>
            </a:r>
            <a:r>
              <a:rPr lang="hu-HU" sz="2000" dirty="0"/>
              <a:t> and </a:t>
            </a:r>
            <a:r>
              <a:rPr lang="hu-HU" sz="2000" dirty="0" err="1"/>
              <a:t>child</a:t>
            </a:r>
            <a:r>
              <a:rPr lang="hu-HU" sz="2000" dirty="0"/>
              <a:t> </a:t>
            </a:r>
            <a:r>
              <a:rPr lang="hu-HU" sz="2000" dirty="0" err="1"/>
              <a:t>passengers</a:t>
            </a:r>
            <a:endParaRPr lang="hu-HU" sz="20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0D8A254-AE56-5E4D-4C53-96EC7735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10</a:t>
            </a:fld>
            <a:endParaRPr lang="hu-HU" dirty="0"/>
          </a:p>
        </p:txBody>
      </p:sp>
      <p:pic>
        <p:nvPicPr>
          <p:cNvPr id="7" name="Kép 6" descr="A képen szöveg, képernyőkép, Betűtípus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241996C-6BC9-1AF4-313E-4814AD0B4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75826"/>
            <a:ext cx="5997262" cy="423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10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108288-EF99-A210-2C6A-77404A37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Final</a:t>
            </a:r>
            <a:r>
              <a:rPr lang="hu-HU" dirty="0"/>
              <a:t> </a:t>
            </a:r>
            <a:r>
              <a:rPr lang="hu-HU" dirty="0" err="1"/>
              <a:t>Remarks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4EDB82D-543E-CB23-CE5F-19D84F9B3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000" dirty="0"/>
              <a:t>Both </a:t>
            </a:r>
            <a:r>
              <a:rPr lang="hu-HU" sz="2000" dirty="0" err="1"/>
              <a:t>models</a:t>
            </a:r>
            <a:r>
              <a:rPr lang="hu-HU" sz="2000" dirty="0"/>
              <a:t> </a:t>
            </a:r>
            <a:r>
              <a:rPr lang="hu-HU" sz="2000" dirty="0" err="1"/>
              <a:t>outperform</a:t>
            </a:r>
            <a:r>
              <a:rPr lang="hu-HU" sz="2000" dirty="0"/>
              <a:t> </a:t>
            </a:r>
            <a:r>
              <a:rPr lang="hu-HU" sz="2000" dirty="0" err="1"/>
              <a:t>raw-attribute</a:t>
            </a:r>
            <a:r>
              <a:rPr lang="hu-HU" sz="2000" dirty="0"/>
              <a:t> </a:t>
            </a:r>
            <a:r>
              <a:rPr lang="hu-HU" sz="2000" dirty="0" err="1"/>
              <a:t>baselines</a:t>
            </a:r>
            <a:endParaRPr lang="hu-HU" sz="2000" dirty="0"/>
          </a:p>
          <a:p>
            <a:r>
              <a:rPr lang="hu-HU" sz="2000" dirty="0" err="1"/>
              <a:t>Systematic</a:t>
            </a:r>
            <a:r>
              <a:rPr lang="hu-HU" sz="2000" dirty="0"/>
              <a:t> </a:t>
            </a:r>
            <a:r>
              <a:rPr lang="hu-HU" sz="2000" dirty="0" err="1"/>
              <a:t>Preprocessing</a:t>
            </a:r>
            <a:r>
              <a:rPr lang="hu-HU" sz="2000" dirty="0"/>
              <a:t> + </a:t>
            </a:r>
            <a:r>
              <a:rPr lang="hu-HU" sz="2000" dirty="0" err="1"/>
              <a:t>domain-informed</a:t>
            </a:r>
            <a:r>
              <a:rPr lang="hu-HU" sz="2000" dirty="0"/>
              <a:t> </a:t>
            </a:r>
            <a:r>
              <a:rPr lang="hu-HU" sz="2000" dirty="0" err="1"/>
              <a:t>feature</a:t>
            </a:r>
            <a:r>
              <a:rPr lang="hu-HU" sz="2000" dirty="0"/>
              <a:t> </a:t>
            </a:r>
            <a:r>
              <a:rPr lang="hu-HU" sz="2000" dirty="0" err="1"/>
              <a:t>engineering</a:t>
            </a:r>
            <a:r>
              <a:rPr lang="hu-HU" sz="2000" dirty="0"/>
              <a:t> </a:t>
            </a:r>
            <a:r>
              <a:rPr lang="hu-HU" sz="2000" dirty="0" err="1"/>
              <a:t>are</a:t>
            </a:r>
            <a:r>
              <a:rPr lang="hu-HU" sz="2000" dirty="0"/>
              <a:t> </a:t>
            </a:r>
            <a:r>
              <a:rPr lang="hu-HU" sz="2000" b="1" dirty="0" err="1"/>
              <a:t>essential</a:t>
            </a:r>
            <a:endParaRPr lang="hu-HU" sz="2000" b="1" dirty="0"/>
          </a:p>
          <a:p>
            <a:r>
              <a:rPr lang="hu-HU" sz="2000" dirty="0"/>
              <a:t>The </a:t>
            </a:r>
            <a:r>
              <a:rPr lang="hu-HU" sz="2000" dirty="0" err="1"/>
              <a:t>workflow</a:t>
            </a:r>
            <a:r>
              <a:rPr lang="hu-HU" sz="2000" dirty="0"/>
              <a:t> </a:t>
            </a:r>
            <a:r>
              <a:rPr lang="hu-HU" sz="2000" dirty="0" err="1"/>
              <a:t>emphasizes</a:t>
            </a:r>
            <a:r>
              <a:rPr lang="hu-HU" sz="2000" dirty="0"/>
              <a:t> </a:t>
            </a:r>
            <a:r>
              <a:rPr lang="hu-HU" sz="2000" dirty="0" err="1"/>
              <a:t>reproducibility</a:t>
            </a:r>
            <a:r>
              <a:rPr lang="hu-HU" sz="2000" dirty="0"/>
              <a:t>, </a:t>
            </a:r>
            <a:r>
              <a:rPr lang="hu-HU" sz="2000" dirty="0" err="1"/>
              <a:t>modularity</a:t>
            </a:r>
            <a:r>
              <a:rPr lang="hu-HU" sz="2000" dirty="0"/>
              <a:t> and </a:t>
            </a:r>
            <a:r>
              <a:rPr lang="hu-HU" sz="2000" dirty="0" err="1"/>
              <a:t>transparent</a:t>
            </a:r>
            <a:r>
              <a:rPr lang="hu-HU" sz="2000" dirty="0"/>
              <a:t> </a:t>
            </a:r>
            <a:r>
              <a:rPr lang="hu-HU" sz="2000" dirty="0" err="1"/>
              <a:t>data</a:t>
            </a:r>
            <a:r>
              <a:rPr lang="hu-HU" sz="2000" dirty="0"/>
              <a:t> preparation</a:t>
            </a:r>
          </a:p>
          <a:p>
            <a:r>
              <a:rPr lang="hu-HU" sz="2000" dirty="0"/>
              <a:t>Random Forest is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best-performing</a:t>
            </a:r>
            <a:r>
              <a:rPr lang="hu-HU" sz="2000" dirty="0"/>
              <a:t> and most </a:t>
            </a:r>
            <a:r>
              <a:rPr lang="hu-HU" sz="2000" dirty="0" err="1"/>
              <a:t>stable</a:t>
            </a:r>
            <a:r>
              <a:rPr lang="hu-HU" sz="2000" dirty="0"/>
              <a:t> </a:t>
            </a:r>
            <a:r>
              <a:rPr lang="hu-HU" sz="2000" dirty="0" err="1"/>
              <a:t>model</a:t>
            </a:r>
            <a:r>
              <a:rPr lang="hu-HU" sz="2000" dirty="0"/>
              <a:t> here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1FE27CA-8AC2-5E68-79A6-B413BEDE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328C-1B21-3F43-B52B-B2296346BCC7}" type="slidenum">
              <a:rPr lang="hu-HU" smtClean="0"/>
              <a:t>11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40245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3DB878-CC9C-6B63-A5C9-306158693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/>
          <a:p>
            <a:r>
              <a:rPr lang="hu-HU" dirty="0" err="1"/>
              <a:t>Thank</a:t>
            </a:r>
            <a:r>
              <a:rPr lang="hu-HU" dirty="0"/>
              <a:t> </a:t>
            </a:r>
            <a:r>
              <a:rPr lang="hu-HU" dirty="0" err="1"/>
              <a:t>you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your</a:t>
            </a:r>
            <a:r>
              <a:rPr lang="hu-HU" dirty="0"/>
              <a:t> </a:t>
            </a:r>
            <a:r>
              <a:rPr lang="hu-HU" dirty="0" err="1"/>
              <a:t>attention</a:t>
            </a:r>
            <a:r>
              <a:rPr lang="hu-HU" dirty="0"/>
              <a:t>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4A96B79-0F89-0C91-1301-928A5C416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 anchor="ctr">
            <a:normAutofit/>
          </a:bodyPr>
          <a:lstStyle/>
          <a:p>
            <a:r>
              <a:rPr lang="hu-HU" dirty="0" err="1"/>
              <a:t>Created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:</a:t>
            </a:r>
          </a:p>
          <a:p>
            <a:r>
              <a:rPr lang="hu-HU" dirty="0"/>
              <a:t>Marczis Bálint</a:t>
            </a:r>
          </a:p>
          <a:p>
            <a:r>
              <a:rPr lang="hu-HU" dirty="0"/>
              <a:t>Bora Miklós Bence</a:t>
            </a:r>
          </a:p>
        </p:txBody>
      </p:sp>
    </p:spTree>
    <p:extLst>
      <p:ext uri="{BB962C8B-B14F-4D97-AF65-F5344CB8AC3E}">
        <p14:creationId xmlns:p14="http://schemas.microsoft.com/office/powerpoint/2010/main" val="1597246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306276B0218946B115A88185BECAEC" ma:contentTypeVersion="3" ma:contentTypeDescription="Create a new document." ma:contentTypeScope="" ma:versionID="57834565f33cb355c13183c4c31f0d5d">
  <xsd:schema xmlns:xsd="http://www.w3.org/2001/XMLSchema" xmlns:xs="http://www.w3.org/2001/XMLSchema" xmlns:p="http://schemas.microsoft.com/office/2006/metadata/properties" xmlns:ns2="b96e9606-e19a-48d4-97ac-88e48f30e78c" targetNamespace="http://schemas.microsoft.com/office/2006/metadata/properties" ma:root="true" ma:fieldsID="d8e9d75cdc3b64dcdd1d7d8b03b971df" ns2:_="">
    <xsd:import namespace="b96e9606-e19a-48d4-97ac-88e48f30e7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6e9606-e19a-48d4-97ac-88e48f30e7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831DA8-0705-4DCB-B25D-D63D86DCA8E4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b96e9606-e19a-48d4-97ac-88e48f30e78c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505566A-1582-47A3-82F4-8C0F227F18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6e9606-e19a-48d4-97ac-88e48f30e7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27A049-85EE-4106-BAF8-8E2D834C5E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524</TotalTime>
  <Words>440</Words>
  <Application>Microsoft Macintosh PowerPoint</Application>
  <PresentationFormat>Szélesvásznú</PresentationFormat>
  <Paragraphs>89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Source Sans Pro</vt:lpstr>
      <vt:lpstr>Office-téma</vt:lpstr>
      <vt:lpstr>Titanic – Machine Learning from Disaster</vt:lpstr>
      <vt:lpstr>Introduction</vt:lpstr>
      <vt:lpstr>Contributions</vt:lpstr>
      <vt:lpstr>Data</vt:lpstr>
      <vt:lpstr>Data</vt:lpstr>
      <vt:lpstr>Preprocessing</vt:lpstr>
      <vt:lpstr>Feature Engineering</vt:lpstr>
      <vt:lpstr>Correlation Matrix</vt:lpstr>
      <vt:lpstr>Methodology</vt:lpstr>
      <vt:lpstr>Results </vt:lpstr>
      <vt:lpstr>Final Remarks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Bence Miklós Bora</dc:creator>
  <cp:lastModifiedBy>Marczis Bálint</cp:lastModifiedBy>
  <cp:revision>64</cp:revision>
  <dcterms:created xsi:type="dcterms:W3CDTF">2025-11-16T19:21:11Z</dcterms:created>
  <dcterms:modified xsi:type="dcterms:W3CDTF">2025-11-30T17:18:14Z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0x01010082306276B0218946B115A88185BECAEC</vt:lpwstr>
  </property>
</Properties>
</file>